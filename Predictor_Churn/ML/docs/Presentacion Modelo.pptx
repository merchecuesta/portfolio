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736A8DA-63D5-99B9-A987-296D4C374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8331"/>
            <a:ext cx="7772400" cy="1752599"/>
          </a:xfrm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Modelo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Predictivo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Abandono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Clientes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Introducción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dirty="0" err="1">
                <a:solidFill>
                  <a:schemeClr val="bg1"/>
                </a:solidFill>
              </a:rPr>
              <a:t>Contexto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10760"/>
          </a:xfrm>
        </p:spPr>
        <p:txBody>
          <a:bodyPr>
            <a:normAutofit fontScale="77500" lnSpcReduction="20000"/>
          </a:bodyPr>
          <a:lstStyle/>
          <a:p>
            <a:pPr>
              <a:defRPr sz="2000"/>
            </a:pPr>
            <a:r>
              <a:rPr lang="es-ES" sz="2100" b="1" dirty="0">
                <a:solidFill>
                  <a:schemeClr val="bg1"/>
                </a:solidFill>
              </a:rPr>
              <a:t>¿Qué p</a:t>
            </a:r>
            <a:r>
              <a:rPr sz="2100" b="1" dirty="0" err="1">
                <a:solidFill>
                  <a:schemeClr val="bg1"/>
                </a:solidFill>
              </a:rPr>
              <a:t>roblema</a:t>
            </a:r>
            <a:r>
              <a:rPr lang="es-ES" sz="2100" b="1" dirty="0">
                <a:solidFill>
                  <a:schemeClr val="bg1"/>
                </a:solidFill>
              </a:rPr>
              <a:t> resuelve el modelo presentado?</a:t>
            </a:r>
          </a:p>
          <a:p>
            <a:pPr marL="0" indent="0">
              <a:buNone/>
              <a:defRPr sz="2000"/>
            </a:pPr>
            <a:r>
              <a:rPr lang="es-ES" dirty="0">
                <a:solidFill>
                  <a:schemeClr val="bg1"/>
                </a:solidFill>
              </a:rPr>
              <a:t>El modelo presentado es capaz de detectar la probabilidad de un cliente para abandonar la empresa, pudiendo así proponer acciones de retención antes de que ocurra.</a:t>
            </a:r>
          </a:p>
          <a:p>
            <a:pPr marL="0" indent="0">
              <a:buNone/>
              <a:defRPr sz="2000"/>
            </a:pPr>
            <a:endParaRPr lang="es-ES" dirty="0">
              <a:solidFill>
                <a:schemeClr val="bg1"/>
              </a:solidFill>
            </a:endParaRPr>
          </a:p>
          <a:p>
            <a:pPr>
              <a:defRPr sz="2000"/>
            </a:pPr>
            <a:r>
              <a:rPr lang="es-ES" sz="2100" b="1" dirty="0">
                <a:solidFill>
                  <a:schemeClr val="bg1"/>
                </a:solidFill>
              </a:rPr>
              <a:t>¿Por qué es relevante resolver este problema? </a:t>
            </a:r>
          </a:p>
          <a:p>
            <a:pPr marL="0" indent="0">
              <a:buNone/>
              <a:defRPr sz="2000"/>
            </a:pPr>
            <a:r>
              <a:rPr lang="es-ES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l churn genera </a:t>
            </a:r>
            <a:r>
              <a:rPr dirty="0" err="1">
                <a:solidFill>
                  <a:schemeClr val="bg1"/>
                </a:solidFill>
              </a:rPr>
              <a:t>pérdidas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importantes</a:t>
            </a:r>
            <a:r>
              <a:rPr lang="es-ES" dirty="0">
                <a:solidFill>
                  <a:schemeClr val="bg1"/>
                </a:solidFill>
              </a:rPr>
              <a:t> a las compañías, además, retener a un cliente es mas barato que adquirir uno nuevo.</a:t>
            </a:r>
          </a:p>
          <a:p>
            <a:pPr marL="0" indent="0">
              <a:buNone/>
              <a:defRPr sz="2000"/>
            </a:pPr>
            <a:endParaRPr dirty="0">
              <a:solidFill>
                <a:schemeClr val="bg1"/>
              </a:solidFill>
            </a:endParaRPr>
          </a:p>
          <a:p>
            <a:pPr>
              <a:defRPr sz="2000"/>
            </a:pPr>
            <a:r>
              <a:rPr sz="2100" b="1" dirty="0">
                <a:solidFill>
                  <a:schemeClr val="bg1"/>
                </a:solidFill>
              </a:rPr>
              <a:t>Impacto: </a:t>
            </a:r>
            <a:endParaRPr lang="es-ES" sz="2100" b="1" dirty="0">
              <a:solidFill>
                <a:schemeClr val="bg1"/>
              </a:solidFill>
            </a:endParaRPr>
          </a:p>
          <a:p>
            <a:pPr marL="0" indent="0">
              <a:buNone/>
              <a:defRPr sz="2000"/>
            </a:pPr>
            <a:r>
              <a:rPr lang="es-ES" dirty="0">
                <a:solidFill>
                  <a:schemeClr val="bg1"/>
                </a:solidFill>
              </a:rPr>
              <a:t>	- C</a:t>
            </a:r>
            <a:r>
              <a:rPr dirty="0" err="1">
                <a:solidFill>
                  <a:schemeClr val="bg1"/>
                </a:solidFill>
              </a:rPr>
              <a:t>ada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cliente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perdido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ingresos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anuales</a:t>
            </a:r>
            <a:r>
              <a:rPr dirty="0">
                <a:solidFill>
                  <a:schemeClr val="bg1"/>
                </a:solidFill>
              </a:rPr>
              <a:t> que </a:t>
            </a:r>
            <a:r>
              <a:rPr dirty="0" err="1">
                <a:solidFill>
                  <a:schemeClr val="bg1"/>
                </a:solidFill>
              </a:rPr>
              <a:t>desaparecen</a:t>
            </a:r>
            <a:r>
              <a:rPr dirty="0">
                <a:solidFill>
                  <a:schemeClr val="bg1"/>
                </a:solidFill>
              </a:rPr>
              <a:t>.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FontTx/>
              <a:buChar char="-"/>
              <a:defRPr sz="2000"/>
            </a:pPr>
            <a:r>
              <a:rPr lang="es-ES" dirty="0">
                <a:solidFill>
                  <a:schemeClr val="bg1"/>
                </a:solidFill>
              </a:rPr>
              <a:t>1 cliente de media consume unos 70€/mes, lo que se traduce en 840€/año.</a:t>
            </a:r>
          </a:p>
          <a:p>
            <a:pPr lvl="1">
              <a:buFontTx/>
              <a:buChar char="-"/>
              <a:defRPr sz="2000"/>
            </a:pPr>
            <a:endParaRPr lang="es-ES" dirty="0">
              <a:solidFill>
                <a:schemeClr val="bg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  <a:defRPr sz="2000"/>
            </a:pPr>
            <a:r>
              <a:rPr lang="es-ES" sz="2100" b="1" dirty="0">
                <a:solidFill>
                  <a:schemeClr val="bg1"/>
                </a:solidFill>
              </a:rPr>
              <a:t>Datos</a:t>
            </a:r>
            <a:r>
              <a:rPr dirty="0">
                <a:solidFill>
                  <a:schemeClr val="bg1"/>
                </a:solidFill>
              </a:rPr>
              <a:t>: </a:t>
            </a:r>
            <a:endParaRPr lang="es-ES" dirty="0">
              <a:solidFill>
                <a:schemeClr val="bg1"/>
              </a:solidFill>
            </a:endParaRPr>
          </a:p>
          <a:p>
            <a:pPr marL="0" lvl="1" indent="0">
              <a:buNone/>
              <a:defRPr sz="2000"/>
            </a:pPr>
            <a:r>
              <a:rPr lang="es-ES" dirty="0">
                <a:solidFill>
                  <a:schemeClr val="bg1"/>
                </a:solidFill>
              </a:rPr>
              <a:t>	- </a:t>
            </a:r>
            <a:r>
              <a:rPr lang="es-ES" dirty="0" err="1">
                <a:solidFill>
                  <a:schemeClr val="bg1"/>
                </a:solidFill>
              </a:rPr>
              <a:t>Dataset</a:t>
            </a:r>
            <a:r>
              <a:rPr lang="es-ES" dirty="0">
                <a:solidFill>
                  <a:schemeClr val="bg1"/>
                </a:solidFill>
              </a:rPr>
              <a:t> con </a:t>
            </a:r>
            <a:r>
              <a:rPr dirty="0">
                <a:solidFill>
                  <a:schemeClr val="bg1"/>
                </a:solidFill>
              </a:rPr>
              <a:t>7.043 </a:t>
            </a:r>
            <a:r>
              <a:rPr dirty="0" err="1">
                <a:solidFill>
                  <a:schemeClr val="bg1"/>
                </a:solidFill>
              </a:rPr>
              <a:t>clientes</a:t>
            </a:r>
            <a:endParaRPr lang="es-ES" dirty="0">
              <a:solidFill>
                <a:schemeClr val="bg1"/>
              </a:solidFill>
            </a:endParaRPr>
          </a:p>
          <a:p>
            <a:pPr marL="0" lvl="1" indent="0">
              <a:buNone/>
              <a:defRPr sz="2000"/>
            </a:pPr>
            <a:r>
              <a:rPr lang="es-ES" dirty="0">
                <a:solidFill>
                  <a:schemeClr val="bg1"/>
                </a:solidFill>
              </a:rPr>
              <a:t>	- Variables: datos demográficos, contratos, servicios contratados, facturación, histórico de 	bajas.</a:t>
            </a:r>
          </a:p>
          <a:p>
            <a:pPr marL="0" lvl="1" indent="0">
              <a:buNone/>
              <a:defRPr sz="2000"/>
            </a:pPr>
            <a:endParaRPr lang="es-ES" dirty="0">
              <a:solidFill>
                <a:schemeClr val="bg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  <a:defRPr sz="2000"/>
            </a:pPr>
            <a:r>
              <a:rPr lang="es-ES" sz="2100" b="1" dirty="0">
                <a:solidFill>
                  <a:schemeClr val="bg1"/>
                </a:solidFill>
              </a:rPr>
              <a:t>Objetivo</a:t>
            </a:r>
            <a:r>
              <a:rPr lang="es-ES" b="1" dirty="0">
                <a:solidFill>
                  <a:schemeClr val="bg1"/>
                </a:solidFill>
              </a:rPr>
              <a:t>:</a:t>
            </a:r>
            <a:endParaRPr b="1" dirty="0">
              <a:solidFill>
                <a:schemeClr val="bg1"/>
              </a:solidFill>
            </a:endParaRPr>
          </a:p>
          <a:p>
            <a:pPr marL="0" indent="0">
              <a:buNone/>
              <a:defRPr sz="2000"/>
            </a:pPr>
            <a:r>
              <a:rPr lang="es-ES" dirty="0">
                <a:solidFill>
                  <a:schemeClr val="bg1"/>
                </a:solidFill>
              </a:rPr>
              <a:t>	-Predecir qué clientes tienen riesgo de abandonar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CD35CF-18E5-C248-5AF7-555402B22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Valor y </a:t>
            </a:r>
            <a:r>
              <a:rPr dirty="0" err="1">
                <a:solidFill>
                  <a:schemeClr val="bg1"/>
                </a:solidFill>
              </a:rPr>
              <a:t>Aplicaciones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-250825"/>
            <a:r>
              <a:rPr lang="es-ES" sz="2000" dirty="0">
                <a:solidFill>
                  <a:schemeClr val="bg1"/>
                </a:solidFill>
              </a:rPr>
              <a:t>Cómo aporta valor el modelo:</a:t>
            </a:r>
          </a:p>
          <a:p>
            <a:pPr lvl="1"/>
            <a:r>
              <a:rPr lang="es-ES" sz="1600" dirty="0">
                <a:solidFill>
                  <a:schemeClr val="bg1"/>
                </a:solidFill>
              </a:rPr>
              <a:t>Detecta clientes en riesgo antes de que se den de baja.</a:t>
            </a:r>
          </a:p>
          <a:p>
            <a:pPr lvl="1"/>
            <a:r>
              <a:rPr lang="es-ES" sz="1600" dirty="0">
                <a:solidFill>
                  <a:schemeClr val="bg1"/>
                </a:solidFill>
              </a:rPr>
              <a:t>Permite campañas de retención más eficientes (menos gasto, reducción de errores en retención, aumento de ingresos).</a:t>
            </a:r>
          </a:p>
          <a:p>
            <a:pPr lvl="1"/>
            <a:r>
              <a:rPr lang="es-ES" sz="1600" dirty="0">
                <a:solidFill>
                  <a:schemeClr val="bg1"/>
                </a:solidFill>
              </a:rPr>
              <a:t>Mejora la experiencia de cliente (sensación de ser importante para la compañía, no ser molestado si no es target de retención)</a:t>
            </a:r>
          </a:p>
          <a:p>
            <a:pPr marL="457200" lvl="1" indent="0">
              <a:buNone/>
            </a:pPr>
            <a:endParaRPr lang="es-ES" sz="1600" dirty="0">
              <a:solidFill>
                <a:schemeClr val="bg1"/>
              </a:solidFill>
            </a:endParaRPr>
          </a:p>
          <a:p>
            <a:pPr marL="355600" lvl="1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</a:rPr>
              <a:t>Casos de uso prácticos:</a:t>
            </a:r>
          </a:p>
          <a:p>
            <a:pPr marL="869950" lvl="2" indent="-342900"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chemeClr val="bg1"/>
                </a:solidFill>
              </a:rPr>
              <a:t>Marketing recibe lista de clientes en riesgo → envía ofertas personalizadas.</a:t>
            </a:r>
          </a:p>
          <a:p>
            <a:pPr marL="869950" lvl="2" indent="-342900"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chemeClr val="bg1"/>
                </a:solidFill>
              </a:rPr>
              <a:t>Atención al cliente recibe alertas para priorizar llamadas proactivas.</a:t>
            </a:r>
          </a:p>
          <a:p>
            <a:pPr marL="527050" lvl="2" indent="0">
              <a:buNone/>
            </a:pPr>
            <a:endParaRPr lang="es-ES" sz="1600" dirty="0">
              <a:solidFill>
                <a:schemeClr val="bg1"/>
              </a:solidFill>
            </a:endParaRPr>
          </a:p>
          <a:p>
            <a:pPr marL="285750" lvl="2" indent="-193675"/>
            <a:r>
              <a:rPr lang="es-ES" sz="2000" dirty="0">
                <a:solidFill>
                  <a:schemeClr val="bg1"/>
                </a:solidFill>
              </a:rPr>
              <a:t>  Conexión con estrategia empresarial: </a:t>
            </a:r>
          </a:p>
          <a:p>
            <a:pPr marL="803275" lvl="3" indent="-285750"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bg1"/>
                </a:solidFill>
              </a:rPr>
              <a:t>Reducción de fuga.</a:t>
            </a:r>
          </a:p>
          <a:p>
            <a:pPr marL="803275" lvl="2" indent="-285750"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bg1"/>
                </a:solidFill>
              </a:rPr>
              <a:t>Incremento de ingresos retenidos.</a:t>
            </a:r>
          </a:p>
          <a:p>
            <a:pPr marL="803275" lvl="2" indent="-285750"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bg1"/>
                </a:solidFill>
              </a:rPr>
              <a:t>Uso de datos para decisiones proactivas.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EAB4E5-9DB5-A792-B403-74AE0E9BD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Metodología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>
                <a:solidFill>
                  <a:schemeClr val="bg1"/>
                </a:solidFill>
              </a:rPr>
              <a:t>Técnicas probadas: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Modelos supervisados: Regresión Logística, </a:t>
            </a:r>
            <a:r>
              <a:rPr lang="es-ES" dirty="0" err="1">
                <a:solidFill>
                  <a:schemeClr val="bg1"/>
                </a:solidFill>
              </a:rPr>
              <a:t>Random</a:t>
            </a:r>
            <a:r>
              <a:rPr lang="es-ES" dirty="0">
                <a:solidFill>
                  <a:schemeClr val="bg1"/>
                </a:solidFill>
              </a:rPr>
              <a:t> Forest, </a:t>
            </a:r>
            <a:r>
              <a:rPr lang="es-ES" dirty="0" err="1">
                <a:solidFill>
                  <a:schemeClr val="bg1"/>
                </a:solidFill>
              </a:rPr>
              <a:t>XGBoost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LightGBM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CatBoost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Comparación de métricas para elegir el mejor.</a:t>
            </a:r>
          </a:p>
          <a:p>
            <a:r>
              <a:rPr lang="es-ES" dirty="0">
                <a:solidFill>
                  <a:schemeClr val="bg1"/>
                </a:solidFill>
              </a:rPr>
              <a:t>Desafíos técnicos resueltos: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Clases desbalanceadas → Uso de </a:t>
            </a:r>
            <a:r>
              <a:rPr lang="es-ES" dirty="0" err="1">
                <a:solidFill>
                  <a:schemeClr val="bg1"/>
                </a:solidFill>
              </a:rPr>
              <a:t>class_weights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dirty="0" err="1">
                <a:solidFill>
                  <a:schemeClr val="bg1"/>
                </a:solidFill>
              </a:rPr>
              <a:t>recall</a:t>
            </a:r>
            <a:endParaRPr lang="es-ES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Variables categóricas → </a:t>
            </a:r>
            <a:r>
              <a:rPr lang="es-ES" dirty="0" err="1">
                <a:solidFill>
                  <a:schemeClr val="bg1"/>
                </a:solidFill>
              </a:rPr>
              <a:t>encoding</a:t>
            </a:r>
            <a:r>
              <a:rPr lang="es-ES" dirty="0">
                <a:solidFill>
                  <a:schemeClr val="bg1"/>
                </a:solidFill>
              </a:rPr>
              <a:t> avanzado.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Multicolinealidad → análisis </a:t>
            </a:r>
            <a:r>
              <a:rPr lang="es-ES" dirty="0" err="1">
                <a:solidFill>
                  <a:schemeClr val="bg1"/>
                </a:solidFill>
              </a:rPr>
              <a:t>Phi_k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r>
              <a:rPr lang="es-ES" dirty="0">
                <a:solidFill>
                  <a:schemeClr val="bg1"/>
                </a:solidFill>
              </a:rPr>
              <a:t>Criterios de selección: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Priorizar </a:t>
            </a:r>
            <a:r>
              <a:rPr lang="es-ES" dirty="0" err="1">
                <a:solidFill>
                  <a:schemeClr val="bg1"/>
                </a:solidFill>
              </a:rPr>
              <a:t>recall</a:t>
            </a:r>
            <a:r>
              <a:rPr lang="es-ES" dirty="0">
                <a:solidFill>
                  <a:schemeClr val="bg1"/>
                </a:solidFill>
              </a:rPr>
              <a:t> (detectar máximo de clientes en fuga).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Mantener buen equilibrio global con AUC-ROC.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1BA027-A075-E9E5-658E-1575A291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Resultados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dirty="0" err="1">
                <a:solidFill>
                  <a:schemeClr val="bg1"/>
                </a:solidFill>
              </a:rPr>
              <a:t>Métricas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Recall: 0.79 (</a:t>
            </a:r>
            <a:r>
              <a:rPr dirty="0" err="1">
                <a:solidFill>
                  <a:schemeClr val="bg1"/>
                </a:solidFill>
              </a:rPr>
              <a:t>detecta</a:t>
            </a:r>
            <a:r>
              <a:rPr dirty="0">
                <a:solidFill>
                  <a:schemeClr val="bg1"/>
                </a:solidFill>
              </a:rPr>
              <a:t> 79% de </a:t>
            </a:r>
            <a:r>
              <a:rPr dirty="0" err="1">
                <a:solidFill>
                  <a:schemeClr val="bg1"/>
                </a:solidFill>
              </a:rPr>
              <a:t>clientes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riesgo</a:t>
            </a:r>
            <a:r>
              <a:rPr dirty="0">
                <a:solidFill>
                  <a:schemeClr val="bg1"/>
                </a:solidFill>
              </a:rPr>
              <a:t>).</a:t>
            </a:r>
          </a:p>
          <a:p>
            <a:pPr>
              <a:defRPr sz="2000"/>
            </a:pPr>
            <a:r>
              <a:rPr dirty="0" err="1">
                <a:solidFill>
                  <a:schemeClr val="bg1"/>
                </a:solidFill>
              </a:rPr>
              <a:t>Precisión</a:t>
            </a:r>
            <a:r>
              <a:rPr dirty="0">
                <a:solidFill>
                  <a:schemeClr val="bg1"/>
                </a:solidFill>
              </a:rPr>
              <a:t>: 0.52 (5 de </a:t>
            </a:r>
            <a:r>
              <a:rPr dirty="0" err="1">
                <a:solidFill>
                  <a:schemeClr val="bg1"/>
                </a:solidFill>
              </a:rPr>
              <a:t>cada</a:t>
            </a:r>
            <a:r>
              <a:rPr dirty="0">
                <a:solidFill>
                  <a:schemeClr val="bg1"/>
                </a:solidFill>
              </a:rPr>
              <a:t> 10 </a:t>
            </a:r>
            <a:r>
              <a:rPr dirty="0" err="1">
                <a:solidFill>
                  <a:schemeClr val="bg1"/>
                </a:solidFill>
              </a:rPr>
              <a:t>realmente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fuga</a:t>
            </a:r>
            <a:r>
              <a:rPr dirty="0">
                <a:solidFill>
                  <a:schemeClr val="bg1"/>
                </a:solidFill>
              </a:rPr>
              <a:t>).</a:t>
            </a:r>
          </a:p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AUC-ROC: 0.85 (</a:t>
            </a:r>
            <a:r>
              <a:rPr dirty="0" err="1">
                <a:solidFill>
                  <a:schemeClr val="bg1"/>
                </a:solidFill>
              </a:rPr>
              <a:t>muy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buena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discriminación</a:t>
            </a:r>
            <a:r>
              <a:rPr dirty="0">
                <a:solidFill>
                  <a:schemeClr val="bg1"/>
                </a:solidFill>
              </a:rPr>
              <a:t>).</a:t>
            </a:r>
          </a:p>
          <a:p>
            <a:pPr>
              <a:defRPr sz="2000"/>
            </a:pPr>
            <a:r>
              <a:rPr dirty="0" err="1">
                <a:solidFill>
                  <a:schemeClr val="bg1"/>
                </a:solidFill>
              </a:rPr>
              <a:t>Modelo</a:t>
            </a:r>
            <a:r>
              <a:rPr dirty="0">
                <a:solidFill>
                  <a:schemeClr val="bg1"/>
                </a:solidFill>
              </a:rPr>
              <a:t> final: </a:t>
            </a:r>
            <a:r>
              <a:rPr dirty="0" err="1">
                <a:solidFill>
                  <a:schemeClr val="bg1"/>
                </a:solidFill>
              </a:rPr>
              <a:t>CatBoost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894383"/>
              </p:ext>
            </p:extLst>
          </p:nvPr>
        </p:nvGraphicFramePr>
        <p:xfrm>
          <a:off x="762000" y="1433196"/>
          <a:ext cx="7619999" cy="4760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12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¿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Qué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mide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¿Por qué importa para el negocio?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r>
                        <a:rPr sz="1400"/>
                        <a:t>Recall (Sensibilidad)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De todos los clientes que realmente se van, ¿cuántos logramos detectar?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Garantiza</a:t>
                      </a:r>
                      <a:r>
                        <a:rPr sz="1400" dirty="0"/>
                        <a:t> que no se escape la </a:t>
                      </a:r>
                      <a:r>
                        <a:rPr sz="1400" dirty="0" err="1"/>
                        <a:t>mayoría</a:t>
                      </a:r>
                      <a:r>
                        <a:rPr sz="1400" dirty="0"/>
                        <a:t> de </a:t>
                      </a:r>
                      <a:r>
                        <a:rPr sz="1400" dirty="0" err="1"/>
                        <a:t>clientes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en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riesgo</a:t>
                      </a:r>
                      <a:r>
                        <a:rPr sz="1400" dirty="0"/>
                        <a:t>. </a:t>
                      </a:r>
                      <a:r>
                        <a:rPr sz="1400" dirty="0" err="1"/>
                        <a:t>Prioridad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máxima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en</a:t>
                      </a:r>
                      <a:r>
                        <a:rPr sz="1400" dirty="0"/>
                        <a:t> </a:t>
                      </a:r>
                      <a:r>
                        <a:rPr sz="1400" b="1" dirty="0" err="1"/>
                        <a:t>retención</a:t>
                      </a:r>
                      <a:r>
                        <a:rPr sz="1400" dirty="0"/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r>
                        <a:rPr sz="1400" dirty="0" err="1"/>
                        <a:t>Precisión</a:t>
                      </a:r>
                      <a:r>
                        <a:rPr sz="1400" dirty="0"/>
                        <a:t> (Precision)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De los clientes que el modelo marcó como en riesgo, ¿cuántos realmente se van?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Evita gastar recursos y molestar a clientes que en realidad no iban a darse de baja.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r>
                        <a:rPr sz="1400"/>
                        <a:t>F1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Equilibrio entre recall y precisión.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Útil</a:t>
                      </a:r>
                      <a:r>
                        <a:rPr sz="1400" dirty="0"/>
                        <a:t> para </a:t>
                      </a:r>
                      <a:r>
                        <a:rPr sz="1400" dirty="0" err="1"/>
                        <a:t>balancear</a:t>
                      </a:r>
                      <a:r>
                        <a:rPr sz="1400" dirty="0"/>
                        <a:t> entre “</a:t>
                      </a:r>
                      <a:r>
                        <a:rPr sz="1400" dirty="0" err="1"/>
                        <a:t>detectar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más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fugas</a:t>
                      </a:r>
                      <a:r>
                        <a:rPr sz="1400" dirty="0"/>
                        <a:t>” </a:t>
                      </a:r>
                      <a:r>
                        <a:rPr lang="es-ES" sz="1400" dirty="0"/>
                        <a:t>y</a:t>
                      </a:r>
                      <a:r>
                        <a:rPr sz="1400" dirty="0"/>
                        <a:t> “</a:t>
                      </a:r>
                      <a:r>
                        <a:rPr sz="1400" dirty="0" err="1"/>
                        <a:t>evitar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falsos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positivos</a:t>
                      </a:r>
                      <a:r>
                        <a:rPr sz="1400" dirty="0"/>
                        <a:t>” </a:t>
                      </a:r>
                      <a:r>
                        <a:rPr sz="1400" dirty="0" err="1"/>
                        <a:t>en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campañas</a:t>
                      </a:r>
                      <a:r>
                        <a:rPr sz="1400" dirty="0"/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r>
                        <a:rPr lang="es-ES" sz="1400" dirty="0"/>
                        <a:t>Matriz de confusión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Resumen de aciertos y errores (clientes retenidos, perdidos, predichos mal).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Da una visión clara de qué tan bien funciona el modelo en términos prácticos.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r>
                        <a:rPr lang="es-ES" sz="1400"/>
                        <a:t>Accuracy (Exactitud)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Porcentaje de predicciones correctas sobre el total.</a:t>
                      </a:r>
                      <a:endParaRPr lang="es-ES"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Métrica general, pero poco representativa cuando hay clases desbalanceadas (como en </a:t>
                      </a:r>
                      <a:r>
                        <a:rPr lang="es-ES" sz="1400" dirty="0" err="1"/>
                        <a:t>churn</a:t>
                      </a:r>
                      <a:r>
                        <a:rPr lang="es-ES" sz="1400" dirty="0"/>
                        <a:t>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r>
                        <a:rPr sz="1400"/>
                        <a:t>ROC AUC Score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Qué</a:t>
                      </a:r>
                      <a:r>
                        <a:rPr sz="1400" dirty="0"/>
                        <a:t> tan bien distingue </a:t>
                      </a:r>
                      <a:r>
                        <a:rPr sz="1400" dirty="0" err="1"/>
                        <a:t>el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modelo</a:t>
                      </a:r>
                      <a:r>
                        <a:rPr sz="1400" dirty="0"/>
                        <a:t> entre </a:t>
                      </a:r>
                      <a:r>
                        <a:rPr sz="1400" dirty="0" err="1"/>
                        <a:t>clientes</a:t>
                      </a:r>
                      <a:r>
                        <a:rPr sz="1400" dirty="0"/>
                        <a:t> que se van y </a:t>
                      </a:r>
                      <a:r>
                        <a:rPr sz="1400" dirty="0" err="1"/>
                        <a:t>los</a:t>
                      </a:r>
                      <a:r>
                        <a:rPr sz="1400" dirty="0"/>
                        <a:t> que se </a:t>
                      </a:r>
                      <a:r>
                        <a:rPr sz="1400" dirty="0" err="1"/>
                        <a:t>quedan</a:t>
                      </a:r>
                      <a:r>
                        <a:rPr sz="1400" dirty="0"/>
                        <a:t>.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Buena </a:t>
                      </a:r>
                      <a:r>
                        <a:rPr sz="1400" dirty="0" err="1"/>
                        <a:t>medida</a:t>
                      </a:r>
                      <a:r>
                        <a:rPr sz="1400" dirty="0"/>
                        <a:t> global de </a:t>
                      </a:r>
                      <a:r>
                        <a:rPr sz="1400" dirty="0" err="1"/>
                        <a:t>calidad</a:t>
                      </a:r>
                      <a:r>
                        <a:rPr sz="1400" dirty="0"/>
                        <a:t> del </a:t>
                      </a:r>
                      <a:r>
                        <a:rPr sz="1400" dirty="0" err="1"/>
                        <a:t>modelo</a:t>
                      </a:r>
                      <a:r>
                        <a:rPr lang="es-ES" sz="1400" dirty="0"/>
                        <a:t>. Cuanto mas cercano al 1 mejor es nuestro modelo.</a:t>
                      </a:r>
                      <a:endParaRPr sz="1400" dirty="0"/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D5C4-A53D-6540-6F5F-13E30216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2D20F9A-DB9E-D9DB-75E1-24566BEA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4F1DF9-D41E-DA15-20D5-57CD6208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Resultados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dirty="0" err="1">
                <a:solidFill>
                  <a:schemeClr val="bg1"/>
                </a:solidFill>
              </a:rPr>
              <a:t>Métricas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AE63F-0BD4-DE69-6A15-E6CE0B27A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31719"/>
          </a:xfrm>
        </p:spPr>
        <p:txBody>
          <a:bodyPr>
            <a:normAutofit lnSpcReduction="10000"/>
          </a:bodyPr>
          <a:lstStyle/>
          <a:p>
            <a:r>
              <a:rPr lang="es-ES" dirty="0">
                <a:solidFill>
                  <a:schemeClr val="bg1"/>
                </a:solidFill>
              </a:rPr>
              <a:t>Métricas clave :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	- </a:t>
            </a:r>
            <a:r>
              <a:rPr lang="es-ES" dirty="0" err="1">
                <a:solidFill>
                  <a:schemeClr val="bg1"/>
                </a:solidFill>
              </a:rPr>
              <a:t>Recall</a:t>
            </a: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	- AUC-ROC</a:t>
            </a:r>
          </a:p>
          <a:p>
            <a:r>
              <a:rPr lang="es-ES" dirty="0">
                <a:solidFill>
                  <a:schemeClr val="bg1"/>
                </a:solidFill>
              </a:rPr>
              <a:t>Tabla comparativa de modelos: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641CAC-EBDA-BF8C-EDEB-92610A890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47" y="3871490"/>
            <a:ext cx="7193506" cy="2711872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07989CC6-4650-8F8A-2C09-8A052B9E90EA}"/>
              </a:ext>
            </a:extLst>
          </p:cNvPr>
          <p:cNvSpPr/>
          <p:nvPr/>
        </p:nvSpPr>
        <p:spPr>
          <a:xfrm>
            <a:off x="721360" y="5029200"/>
            <a:ext cx="7447393" cy="406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08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91F2C1A-9559-EAC1-AB06-A792D0E89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Demo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Streamlit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App </a:t>
            </a:r>
            <a:r>
              <a:rPr dirty="0" err="1">
                <a:solidFill>
                  <a:schemeClr val="bg1"/>
                </a:solidFill>
              </a:rPr>
              <a:t>sencilla</a:t>
            </a:r>
            <a:r>
              <a:rPr dirty="0">
                <a:solidFill>
                  <a:schemeClr val="bg1"/>
                </a:solidFill>
              </a:rPr>
              <a:t> de usar para </a:t>
            </a:r>
            <a:r>
              <a:rPr dirty="0" err="1">
                <a:solidFill>
                  <a:schemeClr val="bg1"/>
                </a:solidFill>
              </a:rPr>
              <a:t>negocio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Carga de CSV y </a:t>
            </a:r>
            <a:r>
              <a:rPr dirty="0" err="1">
                <a:solidFill>
                  <a:schemeClr val="bg1"/>
                </a:solidFill>
              </a:rPr>
              <a:t>predicción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riesgo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cliente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defRPr sz="2000"/>
            </a:pPr>
            <a:r>
              <a:rPr dirty="0" err="1">
                <a:solidFill>
                  <a:schemeClr val="bg1"/>
                </a:solidFill>
              </a:rPr>
              <a:t>Resultados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exportables</a:t>
            </a:r>
            <a:r>
              <a:rPr dirty="0">
                <a:solidFill>
                  <a:schemeClr val="bg1"/>
                </a:solidFill>
              </a:rPr>
              <a:t> para Marketing y </a:t>
            </a:r>
            <a:r>
              <a:rPr dirty="0" err="1">
                <a:solidFill>
                  <a:schemeClr val="bg1"/>
                </a:solidFill>
              </a:rPr>
              <a:t>Atención</a:t>
            </a:r>
            <a:r>
              <a:rPr dirty="0">
                <a:solidFill>
                  <a:schemeClr val="bg1"/>
                </a:solidFill>
              </a:rPr>
              <a:t> al </a:t>
            </a:r>
            <a:r>
              <a:rPr dirty="0" err="1">
                <a:solidFill>
                  <a:schemeClr val="bg1"/>
                </a:solidFill>
              </a:rPr>
              <a:t>cliente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AC4092-4B5E-914A-9EC0-8AB8ED3CE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930017"/>
            <a:ext cx="4852998" cy="201790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03142C3-6FA0-DD6F-A2B2-98E924682F08}"/>
              </a:ext>
            </a:extLst>
          </p:cNvPr>
          <p:cNvSpPr/>
          <p:nvPr/>
        </p:nvSpPr>
        <p:spPr>
          <a:xfrm>
            <a:off x="4348480" y="4064000"/>
            <a:ext cx="609600" cy="284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52FAA0D-DAB1-98D3-E7D0-BFA7F64B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998" y="2930017"/>
            <a:ext cx="2834286" cy="28031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33B7EF3-866E-024F-29CA-A2C1963FD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" y="5109789"/>
            <a:ext cx="4278607" cy="1016374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9ED1CF30-E69F-D2EB-FC17-FD76CD9C7490}"/>
              </a:ext>
            </a:extLst>
          </p:cNvPr>
          <p:cNvSpPr/>
          <p:nvPr/>
        </p:nvSpPr>
        <p:spPr>
          <a:xfrm>
            <a:off x="1341120" y="5623560"/>
            <a:ext cx="1714500" cy="243840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E9D9E33-F711-DAD3-AE59-B53DEA45874A}"/>
              </a:ext>
            </a:extLst>
          </p:cNvPr>
          <p:cNvSpPr txBox="1"/>
          <p:nvPr/>
        </p:nvSpPr>
        <p:spPr>
          <a:xfrm>
            <a:off x="1242060" y="3055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C8C9B90-E40A-923E-5C60-A722D29DFF36}"/>
              </a:ext>
            </a:extLst>
          </p:cNvPr>
          <p:cNvSpPr txBox="1"/>
          <p:nvPr/>
        </p:nvSpPr>
        <p:spPr>
          <a:xfrm>
            <a:off x="8031480" y="29300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2AE77A6-88AD-2E19-A37B-90BB9E52490C}"/>
              </a:ext>
            </a:extLst>
          </p:cNvPr>
          <p:cNvSpPr txBox="1"/>
          <p:nvPr/>
        </p:nvSpPr>
        <p:spPr>
          <a:xfrm>
            <a:off x="1039434" y="51402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CF3CCC0-C812-D5EF-B09E-7ADDA2CB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Coste-</a:t>
            </a:r>
            <a:r>
              <a:rPr dirty="0" err="1">
                <a:solidFill>
                  <a:schemeClr val="bg1"/>
                </a:solidFill>
              </a:rPr>
              <a:t>Beneficio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 err="1">
                <a:solidFill>
                  <a:schemeClr val="bg1"/>
                </a:solidFill>
              </a:rPr>
              <a:t>Campaña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tradicional</a:t>
            </a:r>
            <a:r>
              <a:rPr dirty="0">
                <a:solidFill>
                  <a:schemeClr val="bg1"/>
                </a:solidFill>
              </a:rPr>
              <a:t>: ROI ≈ 3x.</a:t>
            </a:r>
          </a:p>
          <a:p>
            <a:pPr>
              <a:defRPr sz="2000"/>
            </a:pPr>
            <a:r>
              <a:rPr dirty="0" err="1">
                <a:solidFill>
                  <a:schemeClr val="bg1"/>
                </a:solidFill>
              </a:rPr>
              <a:t>Campaña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segmentada</a:t>
            </a:r>
            <a:r>
              <a:rPr dirty="0">
                <a:solidFill>
                  <a:schemeClr val="bg1"/>
                </a:solidFill>
              </a:rPr>
              <a:t> con </a:t>
            </a:r>
            <a:r>
              <a:rPr dirty="0" err="1">
                <a:solidFill>
                  <a:schemeClr val="bg1"/>
                </a:solidFill>
              </a:rPr>
              <a:t>modelo</a:t>
            </a:r>
            <a:r>
              <a:rPr dirty="0">
                <a:solidFill>
                  <a:schemeClr val="bg1"/>
                </a:solidFill>
              </a:rPr>
              <a:t>: ROI ≈ 16x.</a:t>
            </a:r>
          </a:p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El </a:t>
            </a:r>
            <a:r>
              <a:rPr dirty="0" err="1">
                <a:solidFill>
                  <a:schemeClr val="bg1"/>
                </a:solidFill>
              </a:rPr>
              <a:t>modelo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multiplica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5 la </a:t>
            </a:r>
            <a:r>
              <a:rPr dirty="0" err="1">
                <a:solidFill>
                  <a:schemeClr val="bg1"/>
                </a:solidFill>
              </a:rPr>
              <a:t>rentabilidad</a:t>
            </a:r>
            <a:r>
              <a:rPr dirty="0">
                <a:solidFill>
                  <a:schemeClr val="bg1"/>
                </a:solidFill>
              </a:rPr>
              <a:t> de las </a:t>
            </a:r>
            <a:r>
              <a:rPr dirty="0" err="1">
                <a:solidFill>
                  <a:schemeClr val="bg1"/>
                </a:solidFill>
              </a:rPr>
              <a:t>campañas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165497-1913-C4FC-AF7A-88BC25EDA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02733"/>
            <a:ext cx="3972383" cy="32815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4D8B623-1753-50FA-D294-9C7687EAF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17" y="3750337"/>
            <a:ext cx="3784331" cy="3014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86ADFC2-1BC5-93CD-0513-2678BA0B2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Limitaciones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dirty="0" err="1">
                <a:solidFill>
                  <a:schemeClr val="bg1"/>
                </a:solidFill>
              </a:rPr>
              <a:t>Próximos</a:t>
            </a:r>
            <a:r>
              <a:rPr dirty="0">
                <a:solidFill>
                  <a:schemeClr val="bg1"/>
                </a:solidFill>
              </a:rPr>
              <a:t>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Limitaciones actuales: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Datos históricos limitados a un solo </a:t>
            </a:r>
            <a:r>
              <a:rPr lang="es-ES" dirty="0" err="1">
                <a:solidFill>
                  <a:schemeClr val="bg1"/>
                </a:solidFill>
              </a:rPr>
              <a:t>dataset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Algunas variables no capturan el 100% del comportamiento del cliente.</a:t>
            </a:r>
          </a:p>
          <a:p>
            <a:r>
              <a:rPr lang="es-ES" dirty="0">
                <a:solidFill>
                  <a:schemeClr val="bg1"/>
                </a:solidFill>
              </a:rPr>
              <a:t>Próximos pasos: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Añadir más datos (interacciones con </a:t>
            </a:r>
            <a:r>
              <a:rPr lang="es-ES" dirty="0" err="1">
                <a:solidFill>
                  <a:schemeClr val="bg1"/>
                </a:solidFill>
              </a:rPr>
              <a:t>call</a:t>
            </a:r>
            <a:r>
              <a:rPr lang="es-ES" dirty="0">
                <a:solidFill>
                  <a:schemeClr val="bg1"/>
                </a:solidFill>
              </a:rPr>
              <a:t> center, satisfacción NPS, localidad, competidores mas cercanos...).</a:t>
            </a:r>
          </a:p>
          <a:p>
            <a:pPr lvl="1"/>
            <a:r>
              <a:rPr lang="es-ES" dirty="0" err="1">
                <a:solidFill>
                  <a:schemeClr val="bg1"/>
                </a:solidFill>
              </a:rPr>
              <a:t>Retraining</a:t>
            </a:r>
            <a:r>
              <a:rPr lang="es-ES" dirty="0">
                <a:solidFill>
                  <a:schemeClr val="bg1"/>
                </a:solidFill>
              </a:rPr>
              <a:t> periódico del modelo para mantener vigencia.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Integración directa en CRM o </a:t>
            </a:r>
            <a:r>
              <a:rPr lang="es-ES" dirty="0" err="1">
                <a:solidFill>
                  <a:schemeClr val="bg1"/>
                </a:solidFill>
              </a:rPr>
              <a:t>call</a:t>
            </a:r>
            <a:r>
              <a:rPr lang="es-ES" dirty="0">
                <a:solidFill>
                  <a:schemeClr val="bg1"/>
                </a:solidFill>
              </a:rPr>
              <a:t> center.</a:t>
            </a:r>
          </a:p>
          <a:p>
            <a:r>
              <a:rPr lang="es-ES" dirty="0">
                <a:solidFill>
                  <a:schemeClr val="bg1"/>
                </a:solidFill>
              </a:rPr>
              <a:t>Escalabilidad: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Modelo preparado para producción.</a:t>
            </a:r>
          </a:p>
          <a:p>
            <a:pPr lvl="1"/>
            <a:r>
              <a:rPr lang="es-ES" dirty="0" err="1">
                <a:solidFill>
                  <a:schemeClr val="bg1"/>
                </a:solidFill>
              </a:rPr>
              <a:t>Streamlit</a:t>
            </a:r>
            <a:r>
              <a:rPr lang="es-ES" dirty="0">
                <a:solidFill>
                  <a:schemeClr val="bg1"/>
                </a:solidFill>
              </a:rPr>
              <a:t> como demo se puede migrar a un </a:t>
            </a:r>
            <a:r>
              <a:rPr lang="es-ES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interno o API.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Cierre y Logros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Resumen:</a:t>
            </a:r>
          </a:p>
          <a:p>
            <a:endParaRPr lang="es-ES" sz="2400" dirty="0">
              <a:solidFill>
                <a:schemeClr val="bg1"/>
              </a:solidFill>
            </a:endParaRP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Modelo predictivo de </a:t>
            </a:r>
            <a:r>
              <a:rPr lang="es-ES" sz="1800" dirty="0" err="1">
                <a:solidFill>
                  <a:schemeClr val="bg1"/>
                </a:solidFill>
              </a:rPr>
              <a:t>churn</a:t>
            </a:r>
            <a:r>
              <a:rPr lang="es-ES" sz="1800" dirty="0">
                <a:solidFill>
                  <a:schemeClr val="bg1"/>
                </a:solidFill>
              </a:rPr>
              <a:t> implementado.</a:t>
            </a:r>
          </a:p>
          <a:p>
            <a:pPr lvl="1"/>
            <a:r>
              <a:rPr lang="es-ES" sz="1800" dirty="0" err="1">
                <a:solidFill>
                  <a:schemeClr val="bg1"/>
                </a:solidFill>
              </a:rPr>
              <a:t>CatBoost</a:t>
            </a:r>
            <a:r>
              <a:rPr lang="es-ES" sz="1800" dirty="0">
                <a:solidFill>
                  <a:schemeClr val="bg1"/>
                </a:solidFill>
              </a:rPr>
              <a:t> seleccionado → </a:t>
            </a:r>
            <a:r>
              <a:rPr lang="es-ES" sz="1800" dirty="0" err="1">
                <a:solidFill>
                  <a:schemeClr val="bg1"/>
                </a:solidFill>
              </a:rPr>
              <a:t>recall</a:t>
            </a:r>
            <a:r>
              <a:rPr lang="es-ES" sz="1800" dirty="0">
                <a:solidFill>
                  <a:schemeClr val="bg1"/>
                </a:solidFill>
              </a:rPr>
              <a:t> 0.79, AUC 0.85.</a:t>
            </a:r>
          </a:p>
          <a:p>
            <a:pPr lvl="1"/>
            <a:r>
              <a:rPr lang="es-ES" sz="1800" dirty="0">
                <a:solidFill>
                  <a:schemeClr val="bg1"/>
                </a:solidFill>
              </a:rPr>
              <a:t>ROI de campañas segmentadas ×16</a:t>
            </a:r>
          </a:p>
          <a:p>
            <a:pPr marL="355600" lvl="1" indent="0">
              <a:buNone/>
            </a:pPr>
            <a:endParaRPr lang="es-ES" sz="1800" dirty="0">
              <a:solidFill>
                <a:schemeClr val="bg1"/>
              </a:solidFill>
            </a:endParaRPr>
          </a:p>
          <a:p>
            <a:pPr marL="355600" lvl="1" indent="0">
              <a:buNone/>
            </a:pPr>
            <a:endParaRPr lang="es-ES" sz="1800" dirty="0">
              <a:solidFill>
                <a:schemeClr val="bg1"/>
              </a:solidFill>
            </a:endParaRPr>
          </a:p>
          <a:p>
            <a:pPr marL="355600" lvl="1" indent="0">
              <a:buNone/>
            </a:pPr>
            <a:r>
              <a:rPr lang="es-ES" sz="1800" dirty="0">
                <a:solidFill>
                  <a:schemeClr val="bg1"/>
                </a:solidFill>
              </a:rPr>
              <a:t>“Con este modelo, la empresa puede anticiparse al abandono de clientes, optimizar recursos y aumentar la rentabilidad de sus campañas de retención.”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803</Words>
  <Application>Microsoft Office PowerPoint</Application>
  <PresentationFormat>Presentación en pantalla (4:3)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Modelo Predictivo de Abandono de Clientes</vt:lpstr>
      <vt:lpstr>Introducción y Contexto</vt:lpstr>
      <vt:lpstr>Valor y Aplicaciones</vt:lpstr>
      <vt:lpstr>Metodología</vt:lpstr>
      <vt:lpstr>Resultados y Métricas</vt:lpstr>
      <vt:lpstr>Resultados y Métricas</vt:lpstr>
      <vt:lpstr>Demo en Streamlit</vt:lpstr>
      <vt:lpstr>Coste-Beneficio</vt:lpstr>
      <vt:lpstr>Limitaciones y Próximos Pasos</vt:lpstr>
      <vt:lpstr>Cierre y Logros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 F</dc:creator>
  <cp:keywords/>
  <dc:description>generated using python-pptx</dc:description>
  <cp:lastModifiedBy>R F</cp:lastModifiedBy>
  <cp:revision>4</cp:revision>
  <dcterms:created xsi:type="dcterms:W3CDTF">2013-01-27T09:14:16Z</dcterms:created>
  <dcterms:modified xsi:type="dcterms:W3CDTF">2025-09-03T07:37:51Z</dcterms:modified>
  <cp:category/>
</cp:coreProperties>
</file>